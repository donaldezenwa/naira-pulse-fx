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USD/NGN, post-float (monthly close)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USD/NGN</c:v>
                </c:pt>
              </c:strCache>
            </c:strRef>
          </c:tx>
          <c:spPr>
            <a:solidFill>
              <a:srgbClr val="12233F"/>
            </a:solidFill>
            <a:ln w="31750" cap="flat">
              <a:solidFill>
                <a:srgbClr val="1223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2233F"/>
              </a:solidFill>
              <a:ln w="9525" cap="flat">
                <a:solidFill>
                  <a:srgbClr val="1223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Sheet1!$A$2:$A$40</c:f>
              <c:multiLvlStrCache>
                <c:ptCount val="39"/>
                <c:lvl>
                  <c:pt idx="0">
                    <c:v>23-06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23-10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24-02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24-06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24-10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25-02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25-06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25-10</c:v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>26-02</c:v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>26-06</c:v>
                  </c:pt>
                  <c:pt idx="37">
                    <c:v/>
                  </c:pt>
                  <c:pt idx="38">
                    <c:v/>
                  </c:pt>
                </c:lvl>
              </c:multiLvlStrCache>
            </c:multiLvlStrRef>
          </c:cat>
          <c:val>
            <c:numRef>
              <c:f>Sheet1!$B$2:$B$40</c:f>
              <c:numCache>
                <c:formatCode>General</c:formatCode>
                <c:ptCount val="39"/>
                <c:pt idx="0">
                  <c:v>758.77</c:v>
                </c:pt>
                <c:pt idx="1">
                  <c:v>758.896</c:v>
                </c:pt>
                <c:pt idx="2">
                  <c:v>772.98</c:v>
                </c:pt>
                <c:pt idx="3">
                  <c:v>769.05</c:v>
                </c:pt>
                <c:pt idx="4">
                  <c:v>908.928</c:v>
                </c:pt>
                <c:pt idx="5">
                  <c:v>790</c:v>
                </c:pt>
                <c:pt idx="6">
                  <c:v>881.031</c:v>
                </c:pt>
                <c:pt idx="7">
                  <c:v>1191.94</c:v>
                </c:pt>
                <c:pt idx="8">
                  <c:v>1616.545</c:v>
                </c:pt>
                <c:pt idx="9">
                  <c:v>1303.342</c:v>
                </c:pt>
                <c:pt idx="10">
                  <c:v>1389</c:v>
                </c:pt>
                <c:pt idx="11">
                  <c:v>1484</c:v>
                </c:pt>
                <c:pt idx="12">
                  <c:v>1512.73</c:v>
                </c:pt>
                <c:pt idx="13">
                  <c:v>1609.917</c:v>
                </c:pt>
                <c:pt idx="14">
                  <c:v>1597.642</c:v>
                </c:pt>
                <c:pt idx="15">
                  <c:v>1639.192</c:v>
                </c:pt>
                <c:pt idx="16">
                  <c:v>1650.783</c:v>
                </c:pt>
                <c:pt idx="17">
                  <c:v>1679.26</c:v>
                </c:pt>
                <c:pt idx="18">
                  <c:v>1537.57</c:v>
                </c:pt>
                <c:pt idx="19">
                  <c:v>1480</c:v>
                </c:pt>
                <c:pt idx="20">
                  <c:v>1498.07</c:v>
                </c:pt>
                <c:pt idx="21">
                  <c:v>1532.37</c:v>
                </c:pt>
                <c:pt idx="22">
                  <c:v>1596.44</c:v>
                </c:pt>
                <c:pt idx="23">
                  <c:v>1584.88</c:v>
                </c:pt>
                <c:pt idx="24">
                  <c:v>1533.43</c:v>
                </c:pt>
                <c:pt idx="25">
                  <c:v>1528.14</c:v>
                </c:pt>
                <c:pt idx="26">
                  <c:v>1534.76</c:v>
                </c:pt>
                <c:pt idx="27">
                  <c:v>1480.42</c:v>
                </c:pt>
                <c:pt idx="28">
                  <c:v>1445.81</c:v>
                </c:pt>
                <c:pt idx="29">
                  <c:v>1445.71</c:v>
                </c:pt>
                <c:pt idx="30">
                  <c:v>1442.94</c:v>
                </c:pt>
                <c:pt idx="31">
                  <c:v>1384.83</c:v>
                </c:pt>
                <c:pt idx="32">
                  <c:v>1358.13</c:v>
                </c:pt>
                <c:pt idx="33">
                  <c:v>1384.46</c:v>
                </c:pt>
                <c:pt idx="34">
                  <c:v>1373.95</c:v>
                </c:pt>
                <c:pt idx="35">
                  <c:v>1370.26</c:v>
                </c:pt>
                <c:pt idx="36">
                  <c:v>1378.95</c:v>
                </c:pt>
                <c:pt idx="37">
                  <c:v>1363.87</c:v>
                </c:pt>
                <c:pt idx="38">
                  <c:v>1348.67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51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E3E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₦ per $1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1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Model comparison vs. baseline (0.598)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ROC-AUC</c:v>
                </c:pt>
              </c:strCache>
            </c:strRef>
          </c:tx>
          <c:spPr>
            <a:solidFill>
              <a:srgbClr val="12233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XGBoost</c:v>
                  </c:pt>
                  <c:pt idx="1">
                    <c:v>Random Forest</c:v>
                  </c:pt>
                  <c:pt idx="2">
                    <c:v>LightGBM</c:v>
                  </c:pt>
                  <c:pt idx="3">
                    <c:v>Log. Regression</c:v>
                  </c:pt>
                  <c:pt idx="4">
                    <c:v>Grad. Boosting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0.579</c:v>
                </c:pt>
                <c:pt idx="1">
                  <c:v>0.575</c:v>
                </c:pt>
                <c:pt idx="2">
                  <c:v>0.543</c:v>
                </c:pt>
                <c:pt idx="3">
                  <c:v>0.527</c:v>
                </c:pt>
                <c:pt idx="4">
                  <c:v>0.502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1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b"/>
        <c:majorGridlines>
          <c:spPr>
            <a:ln w="12700" cap="flat">
              <a:solidFill>
                <a:srgbClr val="DDE3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1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5394960"/>
            <a:ext cx="0" cy="0"/>
          </a:xfrm>
          <a:prstGeom prst="line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 flipV="1">
            <a:off x="7955280" y="5577840"/>
            <a:ext cx="822960" cy="457200"/>
          </a:xfrm>
          <a:prstGeom prst="line">
            <a:avLst/>
          </a:prstGeom>
          <a:noFill/>
          <a:ln w="38100">
            <a:solidFill>
              <a:srgbClr val="1584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5577840"/>
            <a:ext cx="822960" cy="228600"/>
          </a:xfrm>
          <a:prstGeom prst="line">
            <a:avLst/>
          </a:prstGeom>
          <a:noFill/>
          <a:ln w="38100">
            <a:solidFill>
              <a:srgbClr val="1584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9601200" y="4937760"/>
            <a:ext cx="822960" cy="868680"/>
          </a:xfrm>
          <a:prstGeom prst="line">
            <a:avLst/>
          </a:prstGeom>
          <a:noFill/>
          <a:ln w="38100">
            <a:solidFill>
              <a:srgbClr val="1584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0" y="4937760"/>
            <a:ext cx="822960" cy="320040"/>
          </a:xfrm>
          <a:prstGeom prst="line">
            <a:avLst/>
          </a:prstGeom>
          <a:noFill/>
          <a:ln w="38100">
            <a:solidFill>
              <a:srgbClr val="1584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247120" y="4480560"/>
            <a:ext cx="548640" cy="777240"/>
          </a:xfrm>
          <a:prstGeom prst="line">
            <a:avLst/>
          </a:prstGeom>
          <a:noFill/>
          <a:ln w="38100">
            <a:solidFill>
              <a:srgbClr val="1584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50040" y="4434840"/>
            <a:ext cx="91440" cy="91440"/>
          </a:xfrm>
          <a:prstGeom prst="ellipse">
            <a:avLst/>
          </a:prstGeom>
          <a:solidFill>
            <a:srgbClr val="15844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3317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NAIRA PULSE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USD/NGN Depreciation Risk for Nigerian Importers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68680" y="3977640"/>
            <a:ext cx="2011680" cy="0"/>
          </a:xfrm>
          <a:prstGeom prst="line">
            <a:avLst/>
          </a:prstGeom>
          <a:noFill/>
          <a:ln w="25400">
            <a:solidFill>
              <a:srgbClr val="15844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2062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Donald Ezenwa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Musa Evans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Deep_Tech / WESOnline Mentorship Program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E3F1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8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3891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importers have no early warning for currency risk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Nigeria floated the naira in June 2023, the exchange rate has moved from a managed peg to a genuinely volatile market. Businesses that import goods, like Lux Dei Global Koncept, absorb this risk with no data-backed way to time when they convert dollars, only rumor, delayed bank quotes, or guesswork.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97764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E8EDF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4114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+121%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029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naira depreciation since the float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(₦610 → ₦1,349 per dollar)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943600" y="1600200"/>
          <a:ext cx="57607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· Problem Statement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Naira Pulse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E3F1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8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3891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confidence-scored buy-now / wait signal, built on live market data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E8EDF3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15844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26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Data, Not a Static Download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4904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daily USD/NGN, crude oil, and macro data from the Alpha Vantage API, no Kaggle dataset involved.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187452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E8EDF3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2194560"/>
            <a:ext cx="502920" cy="502920"/>
          </a:xfrm>
          <a:prstGeom prst="ellipse">
            <a:avLst/>
          </a:prstGeom>
          <a:solidFill>
            <a:srgbClr val="15844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177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926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on the Regime That Matters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74904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post-float data (since June 2023), the market structure the naira actually trades in today.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187452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E8EDF3"/>
          </a:solidFill>
          <a:ln/>
        </p:spPr>
      </p:sp>
      <p:sp>
        <p:nvSpPr>
          <p:cNvPr id="17" name="Shape 15"/>
          <p:cNvSpPr/>
          <p:nvPr/>
        </p:nvSpPr>
        <p:spPr>
          <a:xfrm>
            <a:off x="8458200" y="2194560"/>
            <a:ext cx="502920" cy="502920"/>
          </a:xfrm>
          <a:prstGeom prst="ellipse">
            <a:avLst/>
          </a:prstGeom>
          <a:solidFill>
            <a:srgbClr val="15844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582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2926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Confidence-Gated Signal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74904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‘buy now’ only above a tuned confidence threshold, turning a noisy classifier into an actionable rule.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· Project Overview / Solution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Naira Pulse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E3F1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8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389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E8EDF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6184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the entire pipeline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9272" y="141732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E8EDF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02152" y="16184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 Vantage API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22402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FX, crude oil, and macro data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81344" y="141732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E8EDF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64224" y="16184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/ NumPy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64224" y="22402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and feature engineering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43416" y="141732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E8EDF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26296" y="16184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226296" y="22402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preprocessing, cross-validation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E3F1E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8130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/ LightGBM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4348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classifiers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19272" y="361188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E3F1E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02152" y="38130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502152" y="44348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curves, backtest visualizations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81344" y="361188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E3F1E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64224" y="38130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Colab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364224" y="44348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environment, API key management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043416" y="361188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E3F1E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226296" y="38130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joblib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226296" y="44348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persistence across pipeline stages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· Tools &amp; Technologies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Naira Pulse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E3F1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8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389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stages, each one validated against real data before moving to the next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485900" y="2697480"/>
            <a:ext cx="9217152" cy="0"/>
          </a:xfrm>
          <a:prstGeom prst="line">
            <a:avLst/>
          </a:prstGeom>
          <a:noFill/>
          <a:ln w="25400">
            <a:solidFill>
              <a:srgbClr val="C7D2DD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211580" y="2423160"/>
            <a:ext cx="548640" cy="548640"/>
          </a:xfrm>
          <a:prstGeom prst="ellipse">
            <a:avLst/>
          </a:prstGeom>
          <a:solidFill>
            <a:srgbClr val="15844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1158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80" dirty="0"/>
          </a:p>
        </p:txBody>
      </p:sp>
      <p:sp>
        <p:nvSpPr>
          <p:cNvPr id="9" name="Text 7"/>
          <p:cNvSpPr txBox="1"/>
          <p:nvPr/>
        </p:nvSpPr>
        <p:spPr>
          <a:xfrm>
            <a:off x="480060" y="3154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Acquisition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80060" y="370332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FX, oil, and macro data from Alpha Vantage; cache and merge on date.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15868" y="2423160"/>
            <a:ext cx="548640" cy="548640"/>
          </a:xfrm>
          <a:prstGeom prst="ellipse">
            <a:avLst/>
          </a:prstGeom>
          <a:solidFill>
            <a:srgbClr val="15844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15868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80" dirty="0"/>
          </a:p>
        </p:txBody>
      </p:sp>
      <p:sp>
        <p:nvSpPr>
          <p:cNvPr id="13" name="Text 11"/>
          <p:cNvSpPr txBox="1"/>
          <p:nvPr/>
        </p:nvSpPr>
        <p:spPr>
          <a:xfrm>
            <a:off x="2784348" y="3154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784348" y="370332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Lags, rolling volatility, calendar features; restrict to the post-float regime; define the 7-day / 1% target.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20156" y="2423160"/>
            <a:ext cx="548640" cy="548640"/>
          </a:xfrm>
          <a:prstGeom prst="ellipse">
            <a:avLst/>
          </a:prstGeom>
          <a:solidFill>
            <a:srgbClr val="15844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20156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5088636" y="3154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088636" y="370332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vs. 5 classifiers, tuned with TimeSeriesSplit, never shuffled across time.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24444" y="2423160"/>
            <a:ext cx="548640" cy="548640"/>
          </a:xfrm>
          <a:prstGeom prst="ellipse">
            <a:avLst/>
          </a:prstGeom>
          <a:solidFill>
            <a:srgbClr val="15844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24444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80" dirty="0"/>
          </a:p>
        </p:txBody>
      </p:sp>
      <p:sp>
        <p:nvSpPr>
          <p:cNvPr id="21" name="Text 19"/>
          <p:cNvSpPr txBox="1"/>
          <p:nvPr/>
        </p:nvSpPr>
        <p:spPr>
          <a:xfrm>
            <a:off x="7392924" y="3154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Backtest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392924" y="370332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ROC-AUC, confusion matrix, and a real NGN-denominated backtest of following the signal.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428732" y="2423160"/>
            <a:ext cx="548640" cy="548640"/>
          </a:xfrm>
          <a:prstGeom prst="ellipse">
            <a:avLst/>
          </a:prstGeom>
          <a:solidFill>
            <a:srgbClr val="15844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428732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80" dirty="0"/>
          </a:p>
        </p:txBody>
      </p:sp>
      <p:sp>
        <p:nvSpPr>
          <p:cNvPr id="25" name="Text 23"/>
          <p:cNvSpPr txBox="1"/>
          <p:nvPr/>
        </p:nvSpPr>
        <p:spPr>
          <a:xfrm>
            <a:off x="9697212" y="3154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Tuning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9697212" y="370332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the confidence cutoff to find where signals are actually worth acting on.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· Methodology / Implementation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Naira Pulse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E3F1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8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3891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finding: confidence matters more than the raw AUC score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645920"/>
          <a:ext cx="54864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5720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reference: a random-guess baseline scored 0.598. None of the five models beat it on raw AUC alone.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63640" y="164592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BEA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46520" y="17556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default 0.5 confidence: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20574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NGN 170 per $1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2788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every signal loses money vs. always waiting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63640" y="342900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E3F1E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46520" y="35387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70%+ confidence (20 signal days):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8404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584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NGN 89 per $1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45720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only on the model’s most confident calls turns it profitable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Backtest: hypothetically convert dollars today whenever the model signals ‘weakens,’ vs. always waiting 7 days. Precision at the 70% threshold: 0.40 (up from 0.16 at default). Sample size at high confidence is small, 20 days over 8 months, so treat the exact figure as directional.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· Results / Demo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Naira Pulse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68680" y="1371600"/>
            <a:ext cx="2011680" cy="0"/>
          </a:xfrm>
          <a:prstGeom prst="line">
            <a:avLst/>
          </a:prstGeom>
          <a:noFill/>
          <a:ln w="25400">
            <a:solidFill>
              <a:srgbClr val="15844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D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31720"/>
            <a:ext cx="3611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Short-horizon FX moves are close to a random walk, raw AUC alone was not enough to beat baseline.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Confidence-gating the signal (≥70%) is what turned the model from a net loss to net positive in backtest.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real, honestly-earned result on 8 months of unseen 2026 data.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828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D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Lessons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2331720"/>
            <a:ext cx="3611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naira's 2023 float created a structural break; training on the full decade would have been misleading.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APIs cover global oil and US macro data well, but not Nigeria-specific reserves or local inflation.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 signals are rare, so the backtest sample is small and directional, not conclusive.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1828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D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2331720"/>
            <a:ext cx="3611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Nigeria-specific macro data (CBN reserves, local inflation) sourced manually.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backtest window as more post-float history accumulates.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the 70% threshold rule inside Lux Dei Global Koncept's own purchasing decisions.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· Conclusion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Naira Pulse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2026-08-30T07:05:44Z</dcterms:created>
  <dcterms:modified xsi:type="dcterms:W3CDTF">2026-08-30T07:05:44Z</dcterms:modified>
</cp:coreProperties>
</file>